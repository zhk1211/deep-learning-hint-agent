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30238700" cy="39603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09" autoAdjust="0"/>
    <p:restoredTop sz="94660"/>
  </p:normalViewPr>
  <p:slideViewPr>
    <p:cSldViewPr snapToGrid="0">
      <p:cViewPr>
        <p:scale>
          <a:sx n="55" d="100"/>
          <a:sy n="55" d="100"/>
        </p:scale>
        <p:origin x="880" y="-6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364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74988-189D-463D-9721-A6F5688AEE1C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51075" y="1143000"/>
            <a:ext cx="2355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E4A36-E06D-4782-BC5D-D427785D0D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7903" y="6481387"/>
            <a:ext cx="25702895" cy="13787837"/>
          </a:xfrm>
        </p:spPr>
        <p:txBody>
          <a:bodyPr anchor="b"/>
          <a:lstStyle>
            <a:lvl1pPr algn="ctr">
              <a:defRPr sz="19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9838" y="20800936"/>
            <a:ext cx="22679025" cy="9561642"/>
          </a:xfrm>
        </p:spPr>
        <p:txBody>
          <a:bodyPr/>
          <a:lstStyle>
            <a:lvl1pPr marL="0" indent="0" algn="ctr">
              <a:buNone/>
              <a:defRPr sz="7935"/>
            </a:lvl1pPr>
            <a:lvl2pPr marL="1511935" indent="0" algn="ctr">
              <a:buNone/>
              <a:defRPr sz="6615"/>
            </a:lvl2pPr>
            <a:lvl3pPr marL="3023870" indent="0" algn="ctr">
              <a:buNone/>
              <a:defRPr sz="5950"/>
            </a:lvl3pPr>
            <a:lvl4pPr marL="4535805" indent="0" algn="ctr">
              <a:buNone/>
              <a:defRPr sz="5290"/>
            </a:lvl4pPr>
            <a:lvl5pPr marL="6047740" indent="0" algn="ctr">
              <a:buNone/>
              <a:defRPr sz="5290"/>
            </a:lvl5pPr>
            <a:lvl6pPr marL="7559675" indent="0" algn="ctr">
              <a:buNone/>
              <a:defRPr sz="5290"/>
            </a:lvl6pPr>
            <a:lvl7pPr marL="9071610" indent="0" algn="ctr">
              <a:buNone/>
              <a:defRPr sz="5290"/>
            </a:lvl7pPr>
            <a:lvl8pPr marL="10583545" indent="0" algn="ctr">
              <a:buNone/>
              <a:defRPr sz="5290"/>
            </a:lvl8pPr>
            <a:lvl9pPr marL="12095480" indent="0" algn="ctr">
              <a:buNone/>
              <a:defRPr sz="529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163" y="9873350"/>
            <a:ext cx="26080879" cy="16473896"/>
          </a:xfrm>
        </p:spPr>
        <p:txBody>
          <a:bodyPr anchor="b"/>
          <a:lstStyle>
            <a:lvl1pPr>
              <a:defRPr sz="19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163" y="26503095"/>
            <a:ext cx="26080879" cy="8663233"/>
          </a:xfrm>
        </p:spPr>
        <p:txBody>
          <a:bodyPr/>
          <a:lstStyle>
            <a:lvl1pPr marL="0" indent="0">
              <a:buNone/>
              <a:defRPr sz="7935">
                <a:solidFill>
                  <a:schemeClr val="tx1"/>
                </a:solidFill>
              </a:defRPr>
            </a:lvl1pPr>
            <a:lvl2pPr marL="1511935" indent="0">
              <a:buNone/>
              <a:defRPr sz="6615">
                <a:solidFill>
                  <a:schemeClr val="tx1">
                    <a:tint val="75000"/>
                  </a:schemeClr>
                </a:solidFill>
              </a:defRPr>
            </a:lvl2pPr>
            <a:lvl3pPr marL="3023870" indent="0">
              <a:buNone/>
              <a:defRPr sz="5950">
                <a:solidFill>
                  <a:schemeClr val="tx1">
                    <a:tint val="75000"/>
                  </a:schemeClr>
                </a:solidFill>
              </a:defRPr>
            </a:lvl3pPr>
            <a:lvl4pPr marL="4535805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4pPr>
            <a:lvl5pPr marL="6047740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5pPr>
            <a:lvl6pPr marL="7559675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6pPr>
            <a:lvl7pPr marL="9071610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7pPr>
            <a:lvl8pPr marL="10583545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8pPr>
            <a:lvl9pPr marL="12095480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8910" y="10542562"/>
            <a:ext cx="12851448" cy="251279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8342" y="10542562"/>
            <a:ext cx="12851448" cy="251279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849" y="2108521"/>
            <a:ext cx="26080879" cy="76548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853" y="9708327"/>
            <a:ext cx="12792385" cy="4757901"/>
          </a:xfrm>
        </p:spPr>
        <p:txBody>
          <a:bodyPr anchor="b"/>
          <a:lstStyle>
            <a:lvl1pPr marL="0" indent="0">
              <a:buNone/>
              <a:defRPr sz="7935" b="1"/>
            </a:lvl1pPr>
            <a:lvl2pPr marL="1511935" indent="0">
              <a:buNone/>
              <a:defRPr sz="6615" b="1"/>
            </a:lvl2pPr>
            <a:lvl3pPr marL="3023870" indent="0">
              <a:buNone/>
              <a:defRPr sz="5950" b="1"/>
            </a:lvl3pPr>
            <a:lvl4pPr marL="4535805" indent="0">
              <a:buNone/>
              <a:defRPr sz="5290" b="1"/>
            </a:lvl4pPr>
            <a:lvl5pPr marL="6047740" indent="0">
              <a:buNone/>
              <a:defRPr sz="5290" b="1"/>
            </a:lvl5pPr>
            <a:lvl6pPr marL="7559675" indent="0">
              <a:buNone/>
              <a:defRPr sz="5290" b="1"/>
            </a:lvl6pPr>
            <a:lvl7pPr marL="9071610" indent="0">
              <a:buNone/>
              <a:defRPr sz="5290" b="1"/>
            </a:lvl7pPr>
            <a:lvl8pPr marL="10583545" indent="0">
              <a:buNone/>
              <a:defRPr sz="5290" b="1"/>
            </a:lvl8pPr>
            <a:lvl9pPr marL="12095480" indent="0">
              <a:buNone/>
              <a:defRPr sz="52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853" y="14466228"/>
            <a:ext cx="12792385" cy="21277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8344" y="9708327"/>
            <a:ext cx="12855386" cy="4757901"/>
          </a:xfrm>
        </p:spPr>
        <p:txBody>
          <a:bodyPr anchor="b"/>
          <a:lstStyle>
            <a:lvl1pPr marL="0" indent="0">
              <a:buNone/>
              <a:defRPr sz="7935" b="1"/>
            </a:lvl1pPr>
            <a:lvl2pPr marL="1511935" indent="0">
              <a:buNone/>
              <a:defRPr sz="6615" b="1"/>
            </a:lvl2pPr>
            <a:lvl3pPr marL="3023870" indent="0">
              <a:buNone/>
              <a:defRPr sz="5950" b="1"/>
            </a:lvl3pPr>
            <a:lvl4pPr marL="4535805" indent="0">
              <a:buNone/>
              <a:defRPr sz="5290" b="1"/>
            </a:lvl4pPr>
            <a:lvl5pPr marL="6047740" indent="0">
              <a:buNone/>
              <a:defRPr sz="5290" b="1"/>
            </a:lvl5pPr>
            <a:lvl6pPr marL="7559675" indent="0">
              <a:buNone/>
              <a:defRPr sz="5290" b="1"/>
            </a:lvl6pPr>
            <a:lvl7pPr marL="9071610" indent="0">
              <a:buNone/>
              <a:defRPr sz="5290" b="1"/>
            </a:lvl7pPr>
            <a:lvl8pPr marL="10583545" indent="0">
              <a:buNone/>
              <a:defRPr sz="5290" b="1"/>
            </a:lvl8pPr>
            <a:lvl9pPr marL="12095480" indent="0">
              <a:buNone/>
              <a:defRPr sz="52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8344" y="14466228"/>
            <a:ext cx="12855386" cy="21277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849" y="2640224"/>
            <a:ext cx="9752768" cy="9240785"/>
          </a:xfrm>
        </p:spPr>
        <p:txBody>
          <a:bodyPr anchor="b"/>
          <a:lstStyle>
            <a:lvl1pPr>
              <a:defRPr sz="105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5386" y="5702159"/>
            <a:ext cx="15308342" cy="28144057"/>
          </a:xfrm>
        </p:spPr>
        <p:txBody>
          <a:bodyPr/>
          <a:lstStyle>
            <a:lvl1pPr>
              <a:defRPr sz="10580"/>
            </a:lvl1pPr>
            <a:lvl2pPr>
              <a:defRPr sz="9260"/>
            </a:lvl2pPr>
            <a:lvl3pPr>
              <a:defRPr sz="7935"/>
            </a:lvl3pPr>
            <a:lvl4pPr>
              <a:defRPr sz="6615"/>
            </a:lvl4pPr>
            <a:lvl5pPr>
              <a:defRPr sz="6615"/>
            </a:lvl5pPr>
            <a:lvl6pPr>
              <a:defRPr sz="6615"/>
            </a:lvl6pPr>
            <a:lvl7pPr>
              <a:defRPr sz="6615"/>
            </a:lvl7pPr>
            <a:lvl8pPr>
              <a:defRPr sz="6615"/>
            </a:lvl8pPr>
            <a:lvl9pPr>
              <a:defRPr sz="66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849" y="11881009"/>
            <a:ext cx="9752768" cy="22011039"/>
          </a:xfrm>
        </p:spPr>
        <p:txBody>
          <a:bodyPr/>
          <a:lstStyle>
            <a:lvl1pPr marL="0" indent="0">
              <a:buNone/>
              <a:defRPr sz="5290"/>
            </a:lvl1pPr>
            <a:lvl2pPr marL="1511935" indent="0">
              <a:buNone/>
              <a:defRPr sz="4630"/>
            </a:lvl2pPr>
            <a:lvl3pPr marL="3023870" indent="0">
              <a:buNone/>
              <a:defRPr sz="3970"/>
            </a:lvl3pPr>
            <a:lvl4pPr marL="4535805" indent="0">
              <a:buNone/>
              <a:defRPr sz="3305"/>
            </a:lvl4pPr>
            <a:lvl5pPr marL="6047740" indent="0">
              <a:buNone/>
              <a:defRPr sz="3305"/>
            </a:lvl5pPr>
            <a:lvl6pPr marL="7559675" indent="0">
              <a:buNone/>
              <a:defRPr sz="3305"/>
            </a:lvl6pPr>
            <a:lvl7pPr marL="9071610" indent="0">
              <a:buNone/>
              <a:defRPr sz="3305"/>
            </a:lvl7pPr>
            <a:lvl8pPr marL="10583545" indent="0">
              <a:buNone/>
              <a:defRPr sz="3305"/>
            </a:lvl8pPr>
            <a:lvl9pPr marL="12095480" indent="0">
              <a:buNone/>
              <a:defRPr sz="33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849" y="2640224"/>
            <a:ext cx="9752768" cy="9240785"/>
          </a:xfrm>
        </p:spPr>
        <p:txBody>
          <a:bodyPr anchor="b"/>
          <a:lstStyle>
            <a:lvl1pPr>
              <a:defRPr sz="105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5386" y="5702159"/>
            <a:ext cx="15308342" cy="28144057"/>
          </a:xfrm>
        </p:spPr>
        <p:txBody>
          <a:bodyPr anchor="t"/>
          <a:lstStyle>
            <a:lvl1pPr marL="0" indent="0">
              <a:buNone/>
              <a:defRPr sz="10580"/>
            </a:lvl1pPr>
            <a:lvl2pPr marL="1511935" indent="0">
              <a:buNone/>
              <a:defRPr sz="9260"/>
            </a:lvl2pPr>
            <a:lvl3pPr marL="3023870" indent="0">
              <a:buNone/>
              <a:defRPr sz="7935"/>
            </a:lvl3pPr>
            <a:lvl4pPr marL="4535805" indent="0">
              <a:buNone/>
              <a:defRPr sz="6615"/>
            </a:lvl4pPr>
            <a:lvl5pPr marL="6047740" indent="0">
              <a:buNone/>
              <a:defRPr sz="6615"/>
            </a:lvl5pPr>
            <a:lvl6pPr marL="7559675" indent="0">
              <a:buNone/>
              <a:defRPr sz="6615"/>
            </a:lvl6pPr>
            <a:lvl7pPr marL="9071610" indent="0">
              <a:buNone/>
              <a:defRPr sz="6615"/>
            </a:lvl7pPr>
            <a:lvl8pPr marL="10583545" indent="0">
              <a:buNone/>
              <a:defRPr sz="6615"/>
            </a:lvl8pPr>
            <a:lvl9pPr marL="12095480" indent="0">
              <a:buNone/>
              <a:defRPr sz="661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849" y="11881009"/>
            <a:ext cx="9752768" cy="22011039"/>
          </a:xfrm>
        </p:spPr>
        <p:txBody>
          <a:bodyPr/>
          <a:lstStyle>
            <a:lvl1pPr marL="0" indent="0">
              <a:buNone/>
              <a:defRPr sz="5290"/>
            </a:lvl1pPr>
            <a:lvl2pPr marL="1511935" indent="0">
              <a:buNone/>
              <a:defRPr sz="4630"/>
            </a:lvl2pPr>
            <a:lvl3pPr marL="3023870" indent="0">
              <a:buNone/>
              <a:defRPr sz="3970"/>
            </a:lvl3pPr>
            <a:lvl4pPr marL="4535805" indent="0">
              <a:buNone/>
              <a:defRPr sz="3305"/>
            </a:lvl4pPr>
            <a:lvl5pPr marL="6047740" indent="0">
              <a:buNone/>
              <a:defRPr sz="3305"/>
            </a:lvl5pPr>
            <a:lvl6pPr marL="7559675" indent="0">
              <a:buNone/>
              <a:defRPr sz="3305"/>
            </a:lvl6pPr>
            <a:lvl7pPr marL="9071610" indent="0">
              <a:buNone/>
              <a:defRPr sz="3305"/>
            </a:lvl7pPr>
            <a:lvl8pPr marL="10583545" indent="0">
              <a:buNone/>
              <a:defRPr sz="3305"/>
            </a:lvl8pPr>
            <a:lvl9pPr marL="12095480" indent="0">
              <a:buNone/>
              <a:defRPr sz="33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39571" y="2108512"/>
            <a:ext cx="6520220" cy="3356202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8912" y="2108512"/>
            <a:ext cx="19182675" cy="335620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8911" y="2108521"/>
            <a:ext cx="26080879" cy="7654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911" y="10542562"/>
            <a:ext cx="26080879" cy="25127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8910" y="36706459"/>
            <a:ext cx="6803708" cy="2108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F804C-A4CA-4EAE-83CC-47A6A143B11E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6570" y="36706459"/>
            <a:ext cx="10205561" cy="2108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6082" y="36706459"/>
            <a:ext cx="6803708" cy="2108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3023870" rtl="0" eaLnBrk="1" latinLnBrk="0" hangingPunct="1">
        <a:lnSpc>
          <a:spcPct val="90000"/>
        </a:lnSpc>
        <a:spcBef>
          <a:spcPct val="0"/>
        </a:spcBef>
        <a:buNone/>
        <a:defRPr sz="14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5650" indent="-755650" algn="l" defTabSz="3023870" rtl="0" eaLnBrk="1" latinLnBrk="0" hangingPunct="1">
        <a:lnSpc>
          <a:spcPct val="90000"/>
        </a:lnSpc>
        <a:spcBef>
          <a:spcPts val="3305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7585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35" kern="1200">
          <a:solidFill>
            <a:schemeClr val="tx1"/>
          </a:solidFill>
          <a:latin typeface="+mn-lt"/>
          <a:ea typeface="+mn-ea"/>
          <a:cs typeface="+mn-cs"/>
        </a:defRPr>
      </a:lvl2pPr>
      <a:lvl3pPr marL="3779520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3pPr>
      <a:lvl4pPr marL="5291455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4pPr>
      <a:lvl5pPr marL="6803390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5pPr>
      <a:lvl6pPr marL="8315325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6pPr>
      <a:lvl7pPr marL="9827260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7pPr>
      <a:lvl8pPr marL="11339195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8pPr>
      <a:lvl9pPr marL="12851130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1pPr>
      <a:lvl2pPr marL="1511935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2pPr>
      <a:lvl3pPr marL="3023870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3pPr>
      <a:lvl4pPr marL="4535805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4pPr>
      <a:lvl5pPr marL="6047740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5pPr>
      <a:lvl6pPr marL="7559675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6pPr>
      <a:lvl7pPr marL="9071610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7pPr>
      <a:lvl8pPr marL="10583545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8pPr>
      <a:lvl9pPr marL="12095480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屏幕快照 2020-07-24 下午3.08.05.png" descr="屏幕快照 2020-07-24 下午3.08.05.png"/>
          <p:cNvPicPr>
            <a:picLocks noChangeAspect="1"/>
          </p:cNvPicPr>
          <p:nvPr/>
        </p:nvPicPr>
        <p:blipFill rotWithShape="1">
          <a:blip r:embed="rId2"/>
          <a:srcRect t="31948" r="50000"/>
          <a:stretch>
            <a:fillRect/>
          </a:stretch>
        </p:blipFill>
        <p:spPr>
          <a:xfrm>
            <a:off x="2" y="12"/>
            <a:ext cx="30238700" cy="208170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25" y="326606"/>
            <a:ext cx="11514699" cy="1580019"/>
          </a:xfrm>
          <a:prstGeom prst="rect">
            <a:avLst/>
          </a:prstGeom>
        </p:spPr>
      </p:pic>
      <p:pic>
        <p:nvPicPr>
          <p:cNvPr id="4" name="屏幕快照 2020-07-24 下午3.08.05.png" descr="屏幕快照 2020-07-24 下午3.08.05.png"/>
          <p:cNvPicPr>
            <a:picLocks noChangeAspect="1"/>
          </p:cNvPicPr>
          <p:nvPr/>
        </p:nvPicPr>
        <p:blipFill rotWithShape="1">
          <a:blip r:embed="rId2"/>
          <a:srcRect t="31948" r="50000"/>
          <a:stretch>
            <a:fillRect/>
          </a:stretch>
        </p:blipFill>
        <p:spPr>
          <a:xfrm>
            <a:off x="0" y="37896799"/>
            <a:ext cx="30238700" cy="170656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itle 1"/>
          <p:cNvSpPr txBox="1"/>
          <p:nvPr/>
        </p:nvSpPr>
        <p:spPr>
          <a:xfrm>
            <a:off x="7793652" y="4308593"/>
            <a:ext cx="14651395" cy="1465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30238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Sans Serif Collection" panose="020B0502040504020204" pitchFamily="34" charset="0"/>
              </a:defRPr>
            </a:lvl1pPr>
          </a:lstStyle>
          <a:p>
            <a:pPr algn="ctr"/>
            <a:r>
              <a:rPr lang="en-US" sz="5500" dirty="0"/>
              <a:t>Haikun Zhao, Ninghuan Chen</a:t>
            </a:r>
          </a:p>
          <a:p>
            <a:pPr algn="ctr"/>
            <a:r>
              <a:rPr lang="en-US" sz="5500" dirty="0"/>
              <a:t>Affiliation:IIIS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5119349" y="6248400"/>
            <a:ext cx="0" cy="296164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/>
          <p:nvPr/>
        </p:nvSpPr>
        <p:spPr>
          <a:xfrm>
            <a:off x="4199467" y="2081530"/>
            <a:ext cx="23164800" cy="2473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0238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Sans Serif Collection" panose="020B0502040504020204" pitchFamily="34" charset="0"/>
              </a:defRPr>
            </a:lvl1pPr>
          </a:lstStyle>
          <a:p>
            <a:pPr algn="ctr"/>
            <a:r>
              <a:rPr lang="en-US" altLang="zh-CN" sz="5145" b="1" dirty="0">
                <a:solidFill>
                  <a:srgbClr val="002060"/>
                </a:solidFill>
              </a:rPr>
              <a:t>Deep Learning Hint Agent: A Next-Action Decision Framework for Progressive Competitive Programming Hints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7793652" y="35964689"/>
            <a:ext cx="14651395" cy="121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0238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Sans Serif Collection" panose="020B0502040504020204" pitchFamily="34" charset="0"/>
              </a:defRPr>
            </a:lvl1pPr>
          </a:lstStyle>
          <a:p>
            <a:pPr algn="ctr"/>
            <a:endParaRPr lang="en-US" sz="5000" dirty="0"/>
          </a:p>
        </p:txBody>
      </p:sp>
      <p:sp>
        <p:nvSpPr>
          <p:cNvPr id="9" name="文本框 8"/>
          <p:cNvSpPr txBox="1"/>
          <p:nvPr/>
        </p:nvSpPr>
        <p:spPr>
          <a:xfrm>
            <a:off x="597825" y="38288415"/>
            <a:ext cx="89643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Deep </a:t>
            </a:r>
            <a:r>
              <a:rPr lang="en-US" altLang="zh-CN" sz="5400">
                <a:solidFill>
                  <a:schemeClr val="bg1"/>
                </a:solidFill>
              </a:rPr>
              <a:t>Learning 2026 </a:t>
            </a:r>
            <a:r>
              <a:rPr lang="en-US" altLang="zh-CN" sz="5400" dirty="0">
                <a:solidFill>
                  <a:schemeClr val="bg1"/>
                </a:solidFill>
              </a:rPr>
              <a:t>Spring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6900" y="6248400"/>
            <a:ext cx="14124305" cy="5808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>
                <a:solidFill>
                  <a:schemeClr val="accent6">
                    <a:lumMod val="50000"/>
                  </a:schemeClr>
                </a:solidFill>
              </a:rPr>
              <a:t>1.</a:t>
            </a:r>
            <a:r>
              <a:rPr lang="zh-CN" altLang="en-US" sz="4000" b="1" dirty="0">
                <a:solidFill>
                  <a:schemeClr val="accent6"/>
                </a:solidFill>
              </a:rPr>
              <a:t> </a:t>
            </a:r>
            <a:r>
              <a:rPr lang="en-US" altLang="zh-CN" sz="4000" b="1" dirty="0"/>
              <a:t>Abstract &amp; Introduction</a:t>
            </a:r>
          </a:p>
          <a:p>
            <a:r>
              <a:rPr lang="en-US" altLang="zh-CN" sz="3600" b="1" dirty="0"/>
              <a:t>Problem: </a:t>
            </a:r>
          </a:p>
          <a:p>
            <a:r>
              <a:rPr lang="en-US" altLang="zh-CN" sz="3600" dirty="0"/>
              <a:t>In competitive programming (e.g., </a:t>
            </a:r>
            <a:r>
              <a:rPr lang="en-US" altLang="zh-CN" sz="3600" dirty="0" err="1"/>
              <a:t>Codeforces</a:t>
            </a:r>
            <a:r>
              <a:rPr lang="en-US" altLang="zh-CN" sz="3600" dirty="0"/>
              <a:t>), general LLMs in a zero-shot setting fail to provide adaptive hints. They either leak full solutions prematurely or provide descriptive, static text that undermines the pedagogical goal of provoking human critical thinking.</a:t>
            </a:r>
          </a:p>
          <a:p>
            <a:r>
              <a:rPr lang="en-US" altLang="zh-CN" sz="3600" b="1" dirty="0"/>
              <a:t>Our Core Idea:</a:t>
            </a:r>
          </a:p>
          <a:p>
            <a:r>
              <a:rPr lang="en-US" altLang="zh-CN" sz="3600" dirty="0"/>
              <a:t>Instead of modeling the multi-turn hint dialogue as a single continuous sequence (which forces the model to learn a statistical average length), we reformulate hint generation as a </a:t>
            </a:r>
            <a:r>
              <a:rPr lang="en-US" altLang="zh-CN" sz="3600" b="1" dirty="0">
                <a:solidFill>
                  <a:srgbClr val="FF0000"/>
                </a:solidFill>
              </a:rPr>
              <a:t>Next-Hint Decision Policy</a:t>
            </a:r>
            <a:r>
              <a:rPr lang="en-US" altLang="zh-CN" sz="3600" dirty="0"/>
              <a:t>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39750" y="18989040"/>
            <a:ext cx="1412303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accent6">
                    <a:lumMod val="50000"/>
                  </a:schemeClr>
                </a:solidFill>
              </a:rPr>
              <a:t>2.</a:t>
            </a:r>
            <a:r>
              <a:rPr lang="en-US" altLang="zh-CN" sz="4000" b="1" dirty="0">
                <a:solidFill>
                  <a:schemeClr val="accent6"/>
                </a:solidFill>
              </a:rPr>
              <a:t> </a:t>
            </a:r>
            <a:r>
              <a:rPr lang="en-US" altLang="zh-CN" sz="4000" b="1" dirty="0"/>
              <a:t>Data Collection &amp; Processing</a:t>
            </a:r>
          </a:p>
          <a:p>
            <a:r>
              <a:rPr lang="en-US" altLang="zh-CN" sz="3600" b="1" dirty="0"/>
              <a:t>Multi-Source Pipeline:</a:t>
            </a:r>
            <a:r>
              <a:rPr lang="en-US" altLang="zh-CN" sz="3600" dirty="0"/>
              <a:t> Overcame </a:t>
            </a:r>
            <a:r>
              <a:rPr lang="en-US" altLang="zh-CN" sz="3600" dirty="0" err="1"/>
              <a:t>Codeforces</a:t>
            </a:r>
            <a:r>
              <a:rPr lang="en-US" altLang="zh-CN" sz="3600" dirty="0"/>
              <a:t> Cloudflare protection by scraping contest metadata, blog editorials, and </a:t>
            </a:r>
            <a:r>
              <a:rPr lang="en-US" altLang="zh-CN" sz="3600" dirty="0" err="1"/>
              <a:t>Luogu</a:t>
            </a:r>
            <a:r>
              <a:rPr lang="en-US" altLang="zh-CN" sz="3600" dirty="0"/>
              <a:t> mirror statements, using automated retry loops to eliminate dynamic rendering blocks.</a:t>
            </a:r>
          </a:p>
          <a:p>
            <a:r>
              <a:rPr lang="en-US" altLang="zh-CN" sz="3600" b="1" dirty="0"/>
              <a:t>Dataset &amp; Alignment: </a:t>
            </a:r>
            <a:r>
              <a:rPr lang="en-US" altLang="zh-CN" sz="3600" dirty="0"/>
              <a:t>Structured data into unified statement, hints, and solutions payloads, and engineered custom data typologies (</a:t>
            </a:r>
            <a:r>
              <a:rPr lang="en-US" altLang="zh-CN" sz="3600" b="1" dirty="0" err="1">
                <a:solidFill>
                  <a:srgbClr val="FF0000"/>
                </a:solidFill>
              </a:rPr>
              <a:t>raw_hint_decision</a:t>
            </a:r>
            <a:r>
              <a:rPr lang="en-US" altLang="zh-CN" sz="3600" dirty="0"/>
              <a:t>, </a:t>
            </a:r>
            <a:r>
              <a:rPr lang="en-US" altLang="zh-CN" sz="3600" b="1" dirty="0" err="1">
                <a:solidFill>
                  <a:srgbClr val="FF0000"/>
                </a:solidFill>
              </a:rPr>
              <a:t>synthetic_early_stop_rejection</a:t>
            </a:r>
            <a:r>
              <a:rPr lang="en-US" altLang="zh-CN" sz="3600" dirty="0"/>
              <a:t>, </a:t>
            </a:r>
            <a:r>
              <a:rPr lang="en-US" altLang="zh-CN" sz="3600" b="1" dirty="0" err="1">
                <a:solidFill>
                  <a:srgbClr val="FF0000"/>
                </a:solidFill>
              </a:rPr>
              <a:t>synthetic_repeat_rejection</a:t>
            </a:r>
            <a:r>
              <a:rPr lang="en-US" altLang="zh-CN" sz="3600" dirty="0"/>
              <a:t>) for </a:t>
            </a:r>
            <a:r>
              <a:rPr lang="en-US" altLang="zh-CN" sz="3600" dirty="0">
                <a:solidFill>
                  <a:srgbClr val="FF0000"/>
                </a:solidFill>
              </a:rPr>
              <a:t>robust SFT alignment</a:t>
            </a:r>
            <a:r>
              <a:rPr lang="en-US" altLang="zh-CN" sz="360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39115" y="24377015"/>
                <a:ext cx="14123670" cy="6800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0" b="1" dirty="0">
                    <a:solidFill>
                      <a:schemeClr val="accent6">
                        <a:lumMod val="50000"/>
                      </a:schemeClr>
                    </a:solidFill>
                  </a:rPr>
                  <a:t>3.</a:t>
                </a:r>
                <a:r>
                  <a:rPr lang="en-US" altLang="zh-CN" sz="4000" b="1" dirty="0"/>
                  <a:t> Methodology &amp; System Improvements</a:t>
                </a:r>
              </a:p>
              <a:p>
                <a:r>
                  <a:rPr lang="en-US" altLang="zh-CN" sz="3600" b="1" dirty="0"/>
                  <a:t>Instruction Alignment:</a:t>
                </a:r>
                <a:r>
                  <a:rPr lang="en-US" altLang="zh-CN" sz="3600" dirty="0"/>
                  <a:t> Implemented a short-epoch SFT strategy (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150~250</m:t>
                    </m:r>
                  </m:oMath>
                </a14:m>
                <a:r>
                  <a:rPr lang="en-US" altLang="zh-CN" sz="3600" dirty="0"/>
                  <a:t> epochs) as an implicit </a:t>
                </a:r>
                <a:r>
                  <a:rPr lang="en-US" altLang="zh-CN" sz="3600" dirty="0" err="1"/>
                  <a:t>regularizer</a:t>
                </a:r>
                <a:r>
                  <a:rPr lang="en-US" altLang="zh-CN" sz="3600" dirty="0"/>
                  <a:t> to preserve linguistic variation and prevent over-fitting.</a:t>
                </a:r>
              </a:p>
              <a:p>
                <a:r>
                  <a:rPr lang="en-US" altLang="zh-CN" sz="3600" b="1" dirty="0"/>
                  <a:t>Negative Rejection Data</a:t>
                </a:r>
                <a:r>
                  <a:rPr lang="en-US" altLang="zh-CN" sz="3600" dirty="0"/>
                  <a:t>: </a:t>
                </a:r>
              </a:p>
              <a:p>
                <a:r>
                  <a:rPr lang="en-US" altLang="zh-CN" sz="3600" dirty="0"/>
                  <a:t>Expanded the training distribution with synthetic negative samples </a:t>
                </a:r>
                <a:r>
                  <a:rPr lang="en-US" altLang="zh-CN" sz="3600" i="1" dirty="0"/>
                  <a:t>(</a:t>
                </a:r>
                <a:r>
                  <a:rPr lang="en-US" altLang="zh-CN" sz="3600" b="1" i="1" dirty="0" err="1">
                    <a:solidFill>
                      <a:srgbClr val="FF0000"/>
                    </a:solidFill>
                  </a:rPr>
                  <a:t>early_stop_rejection</a:t>
                </a:r>
                <a:r>
                  <a:rPr lang="en-US" altLang="zh-CN" sz="3600" i="1" dirty="0"/>
                  <a:t>, </a:t>
                </a:r>
                <a:r>
                  <a:rPr lang="en-US" altLang="zh-CN" sz="3600" b="1" i="1" dirty="0" err="1">
                    <a:solidFill>
                      <a:srgbClr val="FF0000"/>
                    </a:solidFill>
                  </a:rPr>
                  <a:t>repeat_rejection</a:t>
                </a:r>
                <a:r>
                  <a:rPr lang="en-US" altLang="zh-CN" sz="3600" i="1" dirty="0"/>
                  <a:t>) </a:t>
                </a:r>
                <a:r>
                  <a:rPr lang="en-US" altLang="zh-CN" sz="3600" dirty="0"/>
                  <a:t>to penalize premature cutoffs and circular reasoning.</a:t>
                </a:r>
              </a:p>
              <a:p>
                <a:r>
                  <a:rPr lang="en-US" altLang="zh-CN" sz="3600" b="1" dirty="0"/>
                  <a:t>Inference Control:</a:t>
                </a:r>
                <a:r>
                  <a:rPr lang="en-US" altLang="zh-CN" sz="3600" dirty="0"/>
                  <a:t> Replaced greedy decoding with a multi-candidate pipeline that spawns 10 parallel paths, leveraging a heuristic evaluation layer with Jaccard similarity scoring to filter and penalize semantic near-duplicates.</a:t>
                </a: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15" y="24377015"/>
                <a:ext cx="14123670" cy="6800850"/>
              </a:xfrm>
              <a:prstGeom prst="rect">
                <a:avLst/>
              </a:prstGeom>
              <a:blipFill>
                <a:blip r:embed="rId4"/>
                <a:stretch>
                  <a:fillRect l="-1527" t="-1679" r="-1797" b="-2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15517494" y="25130389"/>
            <a:ext cx="13863320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accent6">
                    <a:lumMod val="50000"/>
                  </a:schemeClr>
                </a:solidFill>
              </a:rPr>
              <a:t>5.</a:t>
            </a:r>
            <a:r>
              <a:rPr lang="en-US" altLang="zh-CN" sz="4000" b="1" dirty="0"/>
              <a:t> Limitations &amp; Future Directions</a:t>
            </a:r>
          </a:p>
          <a:p>
            <a:r>
              <a:rPr lang="en-US" altLang="zh-CN" sz="3600" b="1" dirty="0"/>
              <a:t>Evaluation Alignment: </a:t>
            </a:r>
            <a:r>
              <a:rPr lang="en-US" altLang="zh-CN" sz="3600" dirty="0"/>
              <a:t>A mismatch exists between the high-level conceptual hints generated by our agent and the engineering execution bottleneck (syntax/compilation) of the proxy solver.</a:t>
            </a:r>
          </a:p>
          <a:p>
            <a:r>
              <a:rPr lang="en-US" altLang="zh-CN" sz="3600" b="1" dirty="0"/>
              <a:t>Generalization Paradigm: </a:t>
            </a:r>
            <a:r>
              <a:rPr lang="en-US" altLang="zh-CN" sz="3600" dirty="0"/>
              <a:t>Demonstrates a resource-efficient framework where specialized small language models act as "</a:t>
            </a:r>
            <a:r>
              <a:rPr lang="en-US" altLang="zh-CN" sz="3600" b="1" dirty="0">
                <a:solidFill>
                  <a:srgbClr val="FF0000"/>
                </a:solidFill>
              </a:rPr>
              <a:t>cognitive scaffolding</a:t>
            </a:r>
            <a:r>
              <a:rPr lang="en-US" altLang="zh-CN" sz="3600" dirty="0"/>
              <a:t>" to unlock the latent reasoning of larger, un-tuned general foundation models </a:t>
            </a:r>
            <a:r>
              <a:rPr lang="en-US" altLang="zh-CN" sz="3600" b="1" dirty="0">
                <a:solidFill>
                  <a:srgbClr val="FF0000"/>
                </a:solidFill>
              </a:rPr>
              <a:t>without prohibitive full-scale training costs</a:t>
            </a:r>
            <a:r>
              <a:rPr lang="en-US" altLang="zh-CN" sz="3600" dirty="0"/>
              <a:t>.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4352" y="15073564"/>
            <a:ext cx="8678346" cy="4750253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5575915" y="6248400"/>
            <a:ext cx="13799820" cy="18261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b="1" dirty="0">
                <a:solidFill>
                  <a:schemeClr val="accent6">
                    <a:lumMod val="50000"/>
                  </a:schemeClr>
                </a:solidFill>
                <a:sym typeface="+mn-ea"/>
              </a:rPr>
              <a:t>4.</a:t>
            </a:r>
            <a:r>
              <a:rPr lang="en-US" altLang="zh-CN" sz="3600" b="1" dirty="0">
                <a:solidFill>
                  <a:schemeClr val="accent6"/>
                </a:solidFill>
                <a:sym typeface="+mn-ea"/>
              </a:rPr>
              <a:t> </a:t>
            </a:r>
            <a:r>
              <a:rPr lang="en-US" altLang="zh-CN" sz="3600" b="1" dirty="0">
                <a:sym typeface="+mn-ea"/>
              </a:rPr>
              <a:t>Empirical Results &amp; Analysis</a:t>
            </a:r>
            <a:endParaRPr lang="en-US" altLang="zh-CN" sz="3600" b="1" dirty="0"/>
          </a:p>
          <a:p>
            <a:r>
              <a:rPr lang="en-US" altLang="zh-CN" sz="3600" b="1" dirty="0">
                <a:solidFill>
                  <a:schemeClr val="accent6">
                    <a:lumMod val="50000"/>
                  </a:schemeClr>
                </a:solidFill>
                <a:sym typeface="+mn-ea"/>
              </a:rPr>
              <a:t>4.1.</a:t>
            </a:r>
            <a:r>
              <a:rPr lang="en-US" altLang="zh-CN" sz="3600" b="1" dirty="0">
                <a:solidFill>
                  <a:schemeClr val="accent6"/>
                </a:solidFill>
                <a:sym typeface="+mn-ea"/>
              </a:rPr>
              <a:t> </a:t>
            </a:r>
            <a:r>
              <a:rPr lang="en-US" altLang="zh-CN" sz="3600" b="1" dirty="0">
                <a:sym typeface="+mn-ea"/>
              </a:rPr>
              <a:t>Zero-Shot Multi-Model Benchmarks</a:t>
            </a:r>
            <a:endParaRPr lang="en-US" altLang="zh-CN" sz="3600" b="1" dirty="0"/>
          </a:p>
          <a:p>
            <a:r>
              <a:rPr lang="en-US" altLang="zh-CN" sz="3600" b="1" dirty="0">
                <a:sym typeface="+mn-ea"/>
              </a:rPr>
              <a:t>The Static Fallacy: </a:t>
            </a:r>
            <a:r>
              <a:rPr lang="en-US" altLang="zh-CN" sz="3600" dirty="0">
                <a:sym typeface="+mn-ea"/>
              </a:rPr>
              <a:t>Commercial models (Gemini-3.1, </a:t>
            </a:r>
            <a:r>
              <a:rPr lang="en-US" altLang="zh-CN" sz="3600" dirty="0" err="1">
                <a:sym typeface="+mn-ea"/>
              </a:rPr>
              <a:t>DeepSeek</a:t>
            </a:r>
            <a:r>
              <a:rPr lang="en-US" altLang="zh-CN" sz="3600" dirty="0">
                <a:sym typeface="+mn-ea"/>
              </a:rPr>
              <a:t> V3, Qwen3.6, Kimi K2.5 Pro) perform poorly on problems across Ratings 800–3300.</a:t>
            </a:r>
            <a:endParaRPr lang="en-US" altLang="zh-CN" sz="3600" b="1" dirty="0">
              <a:sym typeface="+mn-ea"/>
            </a:endParaRPr>
          </a:p>
          <a:p>
            <a:endParaRPr lang="en-US" altLang="zh-CN" sz="3600" b="1" dirty="0"/>
          </a:p>
          <a:p>
            <a:endParaRPr lang="en-US" altLang="zh-CN" sz="3600" b="1" dirty="0"/>
          </a:p>
          <a:p>
            <a:endParaRPr lang="en-US" altLang="zh-CN" sz="3600" b="1" dirty="0"/>
          </a:p>
          <a:p>
            <a:r>
              <a:rPr lang="en-US" altLang="zh-CN" sz="4000" b="1" dirty="0">
                <a:solidFill>
                  <a:schemeClr val="accent6">
                    <a:lumMod val="50000"/>
                  </a:schemeClr>
                </a:solidFill>
              </a:rPr>
              <a:t>4.2.</a:t>
            </a:r>
            <a:r>
              <a:rPr lang="en-US" altLang="zh-CN" sz="4000" b="1" dirty="0"/>
              <a:t> External Solver </a:t>
            </a:r>
          </a:p>
          <a:p>
            <a:r>
              <a:rPr lang="en-US" altLang="zh-CN" sz="4000" b="1" dirty="0"/>
              <a:t>Evaluation Loop</a:t>
            </a:r>
          </a:p>
          <a:p>
            <a:r>
              <a:rPr lang="en-US" altLang="zh-CN" sz="3600" b="1" dirty="0"/>
              <a:t>Automated Sandbox: </a:t>
            </a:r>
          </a:p>
          <a:p>
            <a:r>
              <a:rPr lang="en-US" altLang="zh-CN" sz="3600" dirty="0"/>
              <a:t>Deployed </a:t>
            </a:r>
            <a:r>
              <a:rPr lang="en-US" altLang="zh-CN" sz="3600" dirty="0">
                <a:solidFill>
                  <a:schemeClr val="accent1"/>
                </a:solidFill>
              </a:rPr>
              <a:t>DeepSeek-V4-Pro</a:t>
            </a:r>
            <a:r>
              <a:rPr lang="en-US" altLang="zh-CN" sz="3600" dirty="0"/>
              <a:t> </a:t>
            </a:r>
          </a:p>
          <a:p>
            <a:r>
              <a:rPr lang="en-US" altLang="zh-CN" sz="3600" dirty="0"/>
              <a:t>as a proxy user to write C++17 </a:t>
            </a:r>
          </a:p>
          <a:p>
            <a:r>
              <a:rPr lang="en-US" altLang="zh-CN" sz="3600" dirty="0"/>
              <a:t>codes under sequential hint </a:t>
            </a:r>
          </a:p>
          <a:p>
            <a:r>
              <a:rPr lang="en-US" altLang="zh-CN" sz="3600" dirty="0"/>
              <a:t>trajectories.</a:t>
            </a:r>
          </a:p>
          <a:p>
            <a:endParaRPr lang="en-US" altLang="zh-CN" sz="3600" dirty="0"/>
          </a:p>
          <a:p>
            <a:r>
              <a:rPr lang="en-US" altLang="zh-CN" sz="3600" b="1" dirty="0"/>
              <a:t>Trajectory Tracking: </a:t>
            </a:r>
          </a:p>
          <a:p>
            <a:r>
              <a:rPr lang="en-US" altLang="zh-CN" sz="3600" dirty="0"/>
              <a:t>Progress is tracked via multi-bit </a:t>
            </a:r>
          </a:p>
          <a:p>
            <a:r>
              <a:rPr lang="en-US" altLang="zh-CN" sz="3600" dirty="0"/>
              <a:t>tracking strings</a:t>
            </a:r>
            <a:r>
              <a:rPr lang="fr-FR" altLang="zh-CN" sz="3600" dirty="0"/>
              <a:t> </a:t>
            </a:r>
            <a:r>
              <a:rPr lang="fr-FR" altLang="zh-CN" sz="3600" dirty="0" err="1"/>
              <a:t>from</a:t>
            </a:r>
            <a:r>
              <a:rPr lang="fr-FR" altLang="zh-CN" sz="3600" dirty="0"/>
              <a:t> 0 </a:t>
            </a:r>
            <a:r>
              <a:rPr lang="fr-FR" altLang="zh-CN" sz="3600" dirty="0" err="1"/>
              <a:t>Hint</a:t>
            </a:r>
            <a:r>
              <a:rPr lang="fr-FR" altLang="zh-CN" sz="3600" dirty="0"/>
              <a:t> to </a:t>
            </a:r>
          </a:p>
          <a:p>
            <a:r>
              <a:rPr lang="fr-FR" altLang="zh-CN" sz="3600" dirty="0"/>
              <a:t>the solution </a:t>
            </a:r>
            <a:r>
              <a:rPr lang="fr-FR" altLang="zh-CN" sz="3600" dirty="0" err="1"/>
              <a:t>upper-bound</a:t>
            </a:r>
            <a:r>
              <a:rPr lang="fr-FR" altLang="zh-CN" sz="3600" dirty="0"/>
              <a:t>.</a:t>
            </a:r>
          </a:p>
          <a:p>
            <a:r>
              <a:rPr lang="en-US" altLang="zh-CN" sz="3600" dirty="0"/>
              <a:t>(e.g., 000111 means</a:t>
            </a:r>
            <a:r>
              <a:rPr lang="zh-CN" altLang="en-US" sz="3600" dirty="0"/>
              <a:t> </a:t>
            </a:r>
            <a:r>
              <a:rPr lang="en-US" altLang="zh-CN" sz="3600" dirty="0"/>
              <a:t>starting </a:t>
            </a:r>
          </a:p>
          <a:p>
            <a:r>
              <a:rPr lang="en-US" altLang="zh-CN" sz="3600" dirty="0"/>
              <a:t>from the 3rd hint, </a:t>
            </a:r>
            <a:r>
              <a:rPr lang="en-US" altLang="zh-CN" sz="3600" dirty="0" err="1">
                <a:solidFill>
                  <a:schemeClr val="accent1"/>
                </a:solidFill>
              </a:rPr>
              <a:t>Deepseek</a:t>
            </a:r>
            <a:r>
              <a:rPr lang="en-US" altLang="zh-CN" sz="3600" dirty="0"/>
              <a:t> </a:t>
            </a:r>
          </a:p>
          <a:p>
            <a:r>
              <a:rPr lang="en-US" altLang="zh-CN" sz="3600" dirty="0"/>
              <a:t>can write </a:t>
            </a:r>
            <a:r>
              <a:rPr lang="en-US" altLang="zh-CN" sz="3600" b="1" dirty="0">
                <a:solidFill>
                  <a:schemeClr val="accent6"/>
                </a:solidFill>
              </a:rPr>
              <a:t>AC</a:t>
            </a:r>
            <a:r>
              <a:rPr lang="en-US" altLang="zh-CN" sz="3600" dirty="0"/>
              <a:t> code.).</a:t>
            </a:r>
          </a:p>
          <a:p>
            <a:endParaRPr lang="en-US" altLang="zh-CN" sz="4000" b="1" dirty="0"/>
          </a:p>
          <a:p>
            <a:r>
              <a:rPr lang="en-US" altLang="zh-CN" sz="4000" b="1" dirty="0">
                <a:solidFill>
                  <a:schemeClr val="accent6">
                    <a:lumMod val="50000"/>
                  </a:schemeClr>
                </a:solidFill>
              </a:rPr>
              <a:t>4.3.</a:t>
            </a:r>
            <a:r>
              <a:rPr lang="en-US" altLang="zh-CN" sz="4000" b="1" dirty="0"/>
              <a:t> Fine-Tuned Agent Empirical Curves</a:t>
            </a:r>
          </a:p>
          <a:p>
            <a:r>
              <a:rPr lang="en-US" altLang="zh-CN" sz="3600" b="1" dirty="0"/>
              <a:t>Output Distribution (Fig 1): </a:t>
            </a:r>
            <a:r>
              <a:rPr lang="en-US" altLang="zh-CN" sz="3600" dirty="0"/>
              <a:t>Version 2 (</a:t>
            </a:r>
            <a:r>
              <a:rPr lang="en-US" altLang="zh-CN" sz="3600" dirty="0">
                <a:solidFill>
                  <a:schemeClr val="accent6"/>
                </a:solidFill>
              </a:rPr>
              <a:t>No solution hint generation</a:t>
            </a:r>
            <a:r>
              <a:rPr lang="en-US" altLang="zh-CN" sz="3600" dirty="0"/>
              <a:t>) faces context limits in deep layers. Implementing a Hard Truncation (Generally, no effective hints can be given after step 4) creates a strange statistical curve.</a:t>
            </a:r>
          </a:p>
          <a:p>
            <a:r>
              <a:rPr lang="en-US" altLang="zh-CN" sz="3600" b="1" dirty="0"/>
              <a:t>Solver Accuracy (Fig 2):</a:t>
            </a:r>
            <a:r>
              <a:rPr lang="en-US" altLang="zh-CN" sz="3600" dirty="0"/>
              <a:t>Version 1 (</a:t>
            </a:r>
            <a:r>
              <a:rPr lang="en-US" altLang="zh-CN" sz="3600" dirty="0">
                <a:solidFill>
                  <a:schemeClr val="accent6"/>
                </a:solidFill>
              </a:rPr>
              <a:t>With solution hint generation</a:t>
            </a:r>
            <a:r>
              <a:rPr lang="en-US" altLang="zh-CN" sz="3600" dirty="0"/>
              <a:t>): Accuracy climbs approximately monotonically from </a:t>
            </a:r>
            <a:r>
              <a:rPr lang="en-US" altLang="zh-CN" sz="3600" b="1" dirty="0">
                <a:solidFill>
                  <a:srgbClr val="FF0000"/>
                </a:solidFill>
              </a:rPr>
              <a:t>29.2%</a:t>
            </a:r>
            <a:r>
              <a:rPr lang="en-US" altLang="zh-CN" sz="3600" dirty="0"/>
              <a:t> to</a:t>
            </a:r>
            <a:r>
              <a:rPr lang="en-US" altLang="zh-CN" sz="3600" b="1" dirty="0">
                <a:solidFill>
                  <a:srgbClr val="FF0000"/>
                </a:solidFill>
              </a:rPr>
              <a:t> 53.3% </a:t>
            </a:r>
            <a:r>
              <a:rPr lang="en-US" altLang="zh-CN" sz="3600" dirty="0"/>
              <a:t>(Solution test: </a:t>
            </a:r>
            <a:r>
              <a:rPr lang="en-US" altLang="zh-CN" sz="3600" b="1" dirty="0">
                <a:solidFill>
                  <a:srgbClr val="FF0000"/>
                </a:solidFill>
              </a:rPr>
              <a:t>77.1%</a:t>
            </a:r>
            <a:r>
              <a:rPr lang="en-US" altLang="zh-CN" sz="3600" dirty="0"/>
              <a:t>), validating coherent pedagogical </a:t>
            </a:r>
            <a:r>
              <a:rPr lang="en-US" altLang="zh-CN" sz="3600" dirty="0" err="1"/>
              <a:t>scaffolding.Version</a:t>
            </a:r>
            <a:r>
              <a:rPr lang="en-US" altLang="zh-CN" sz="3600" dirty="0"/>
              <a:t> 2 (Capped at 4): Establishes a stable performance plateau at </a:t>
            </a:r>
            <a:r>
              <a:rPr lang="en-US" altLang="zh-CN" sz="3600" b="1" dirty="0">
                <a:solidFill>
                  <a:srgbClr val="FF0000"/>
                </a:solidFill>
              </a:rPr>
              <a:t>45.8%</a:t>
            </a:r>
            <a:r>
              <a:rPr lang="en-US" altLang="zh-CN" sz="3600" dirty="0"/>
              <a:t>, preserving early-stage precision.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6"/>
          <a:srcRect r="36769"/>
          <a:stretch/>
        </p:blipFill>
        <p:spPr>
          <a:xfrm>
            <a:off x="21081901" y="33406715"/>
            <a:ext cx="8861524" cy="449008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0" y="11810365"/>
            <a:ext cx="12558395" cy="713867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5551853" y="29473456"/>
            <a:ext cx="13910945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accent6">
                    <a:lumMod val="50000"/>
                  </a:schemeClr>
                </a:solidFill>
              </a:rPr>
              <a:t>6.</a:t>
            </a:r>
            <a:r>
              <a:rPr lang="en-US" altLang="zh-CN" sz="4000" b="1" dirty="0"/>
              <a:t> Demo</a:t>
            </a:r>
          </a:p>
          <a:p>
            <a:r>
              <a:rPr lang="en-US" altLang="zh-CN" sz="3600" dirty="0"/>
              <a:t>We have developed an interactive UI demo that allows users to select from three distinct profiles of hint models.</a:t>
            </a:r>
          </a:p>
          <a:p>
            <a:r>
              <a:rPr lang="en-US" altLang="zh-CN" sz="3600" dirty="0"/>
              <a:t>The interface supports progressive, </a:t>
            </a:r>
          </a:p>
          <a:p>
            <a:r>
              <a:rPr lang="en-US" altLang="zh-CN" sz="3600" dirty="0"/>
              <a:t>step-by-step hint generation on demand.</a:t>
            </a:r>
          </a:p>
          <a:p>
            <a:r>
              <a:rPr lang="en-US" altLang="zh-CN" sz="3600" dirty="0"/>
              <a:t>Furthermore, users can leverage an integrated </a:t>
            </a:r>
          </a:p>
          <a:p>
            <a:r>
              <a:rPr lang="en-US" altLang="zh-CN" sz="3600" dirty="0" err="1"/>
              <a:t>DeepSeek</a:t>
            </a:r>
            <a:r>
              <a:rPr lang="en-US" altLang="zh-CN" sz="3600" dirty="0"/>
              <a:t> solver to synthesize execution-ready </a:t>
            </a:r>
          </a:p>
          <a:p>
            <a:r>
              <a:rPr lang="en-US" altLang="zh-CN" sz="3600" dirty="0"/>
              <a:t>code directly from the </a:t>
            </a:r>
          </a:p>
          <a:p>
            <a:r>
              <a:rPr lang="en-US" altLang="zh-CN" sz="3600" dirty="0"/>
              <a:t>accumulated hint sequence. 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490" y="31177865"/>
            <a:ext cx="12077065" cy="67564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01575EA-4DDB-1C40-A90E-DA93A5742D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66842" y="8995141"/>
            <a:ext cx="15035855" cy="156537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B431730-343E-F21E-6EC5-F63B8D48EB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4351" y="10473876"/>
            <a:ext cx="8678346" cy="474517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1B4E934-1898-E8EE-AC07-E312529B0B2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2"/>
          <a:stretch/>
        </p:blipFill>
        <p:spPr>
          <a:xfrm>
            <a:off x="24438478" y="30828168"/>
            <a:ext cx="5504947" cy="29500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8874A05-37A1-A939-04E7-2BBF755BF2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17494" y="34380034"/>
            <a:ext cx="5131904" cy="36006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</TotalTime>
  <Words>622</Words>
  <Application>Microsoft Macintosh PowerPoint</Application>
  <PresentationFormat>自定义</PresentationFormat>
  <Paragraphs>53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Cambria Math</vt:lpstr>
      <vt:lpstr>Verdana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IIIS</dc:creator>
  <cp:lastModifiedBy>zhk1211</cp:lastModifiedBy>
  <cp:revision>170</cp:revision>
  <dcterms:created xsi:type="dcterms:W3CDTF">2023-12-12T06:09:00Z</dcterms:created>
  <dcterms:modified xsi:type="dcterms:W3CDTF">2026-06-05T09:19:15Z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</Properties>
</file>